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gxRmUJem6KqpMyUDoN7PeTKeXk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CB0F782-7B9B-4435-BB8A-5C77A8438EF1}">
  <a:tblStyle styleId="{7CB0F782-7B9B-4435-BB8A-5C77A8438EF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MRR Growth Trend (USD)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MRR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Sep</c:v>
                  </c:pt>
                  <c:pt idx="1">
                    <c:v>Oct</c:v>
                  </c:pt>
                  <c:pt idx="2">
                    <c:v>Nov</c:v>
                  </c:pt>
                  <c:pt idx="3">
                    <c:v>Dec</c:v>
                  </c:pt>
                  <c:pt idx="4">
                    <c:v>Jan</c:v>
                  </c:pt>
                  <c:pt idx="5">
                    <c:v>Feb</c:v>
                  </c:pt>
                  <c:pt idx="6">
                    <c:v>Mar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58200</c:v>
                </c:pt>
                <c:pt idx="1">
                  <c:v>62400</c:v>
                </c:pt>
                <c:pt idx="2">
                  <c:v>67800</c:v>
                </c:pt>
                <c:pt idx="3">
                  <c:v>71500</c:v>
                </c:pt>
                <c:pt idx="4">
                  <c:v>76200</c:v>
                </c:pt>
                <c:pt idx="5">
                  <c:v>82100</c:v>
                </c:pt>
                <c:pt idx="6">
                  <c:v>84167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Revenue by Plan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MRR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Basic</c:v>
                  </c:pt>
                  <c:pt idx="1">
                    <c:v>Starter</c:v>
                  </c:pt>
                  <c:pt idx="2">
                    <c:v>Pro</c:v>
                  </c:pt>
                  <c:pt idx="3">
                    <c:v>Enterprise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12450</c:v>
                </c:pt>
                <c:pt idx="1">
                  <c:v>18320</c:v>
                </c:pt>
                <c:pt idx="2">
                  <c:v>45832</c:v>
                </c:pt>
                <c:pt idx="3">
                  <c:v>25885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457200" y="731520"/>
            <a:ext cx="566928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AI-Powered SaaS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Business Intelligence Engine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2880360"/>
            <a:ext cx="5669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ETL Pipelines  ·  PostgreSQL  ·  MCP Governance  ·  AI Insights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3401568"/>
            <a:ext cx="2377440" cy="36576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457200" y="361188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Status: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463040" y="361188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Functional MVP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57200" y="393192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Stack: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1463040" y="393192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 · FastAPI · OpenAI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457200" y="425196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Date: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1463040" y="425196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February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F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411480" y="9144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This Project?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8046720" y="91440"/>
            <a:ext cx="822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02 / 06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274320" y="1143000"/>
            <a:ext cx="4114800" cy="1600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457200" y="1307592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📂  Data is Scattered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57200" y="1691640"/>
            <a:ext cx="3749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Business data lives in different files, tools, and systems. There's no single place to look for answers.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709160" y="1143000"/>
            <a:ext cx="4114800" cy="1600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4892040" y="1307592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🔍  Hard to Read Dashboards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892040" y="1691640"/>
            <a:ext cx="3749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Traditional BI tools like Tableau need a data analyst to interpret. Executives don't have time for that.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274320" y="2971800"/>
            <a:ext cx="4114800" cy="1600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457200" y="3136392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🔒  AI Needs Guardrails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57200" y="3520440"/>
            <a:ext cx="3749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Giving AI direct access to your database is risky. It needs controlled, safe access to avoid errors and leaks.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709160" y="2971800"/>
            <a:ext cx="4114800" cy="1600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4892040" y="3136392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💬  No Easy Way to Ask Questions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892040" y="3520440"/>
            <a:ext cx="3749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Leaders want to ask "Why did revenue drop?" and get a real answer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not dig through pivot tables.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411480" y="9144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It Works — The 3-Layer System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8046720" y="91440"/>
            <a:ext cx="822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03 / 06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201168" y="1371600"/>
            <a:ext cx="1234440" cy="82296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201168" y="1371600"/>
            <a:ext cx="1234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Raw Data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(CSV / Kaggle)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1453896" y="1764792"/>
            <a:ext cx="182880" cy="36576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1563624" y="1655064"/>
            <a:ext cx="137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1664208" y="1371600"/>
            <a:ext cx="1234440" cy="822960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1664208" y="1371600"/>
            <a:ext cx="1234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 ETL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2916936" y="1764792"/>
            <a:ext cx="182880" cy="36576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3026664" y="1655064"/>
            <a:ext cx="137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3127248" y="1371600"/>
            <a:ext cx="1234440" cy="8229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3127248" y="1371600"/>
            <a:ext cx="1234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Warehouse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4379976" y="1764792"/>
            <a:ext cx="182880" cy="36576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4489704" y="1655064"/>
            <a:ext cx="137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4590288" y="1371600"/>
            <a:ext cx="1234440" cy="82296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4590288" y="1371600"/>
            <a:ext cx="1234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FastAPI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MCP Layer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5843016" y="1764792"/>
            <a:ext cx="182880" cy="36576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5952744" y="1655064"/>
            <a:ext cx="137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053328" y="1371600"/>
            <a:ext cx="1234440" cy="82296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6053328" y="1371600"/>
            <a:ext cx="1234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Intelligence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(GPT-4o-mini)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7306056" y="1764792"/>
            <a:ext cx="182880" cy="36576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7415784" y="1655064"/>
            <a:ext cx="137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7516368" y="1371600"/>
            <a:ext cx="1234440" cy="82296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7516368" y="1371600"/>
            <a:ext cx="1234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Chat UI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&amp; Reports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228600" y="2468880"/>
            <a:ext cx="2834640" cy="2377440"/>
          </a:xfrm>
          <a:prstGeom prst="rect">
            <a:avLst/>
          </a:prstGeom>
          <a:solidFill>
            <a:srgbClr val="EBF1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393192" y="260604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Layer 1 </a:t>
            </a:r>
            <a:r>
              <a:rPr b="1" lang="en-US" sz="12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393192" y="3017520"/>
            <a:ext cx="25146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PostgreSQL holds pre-built analytics views. The AI never touches raw tables directly.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3246120" y="2468880"/>
            <a:ext cx="2834640" cy="2377440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3410712" y="260604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Layer 2 </a:t>
            </a:r>
            <a:r>
              <a:rPr b="1" lang="en-US" sz="12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MCP API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3410712" y="3017520"/>
            <a:ext cx="25146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FastAPI exposes safe endpoints like /revenue/by-plan. This is the only layer that can query the database.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6263640" y="2468880"/>
            <a:ext cx="2834640" cy="2377440"/>
          </a:xfrm>
          <a:prstGeom prst="rect">
            <a:avLst/>
          </a:prstGeom>
          <a:solidFill>
            <a:srgbClr val="DCFCE7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6428232" y="260604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Layer 3 </a:t>
            </a:r>
            <a:r>
              <a:rPr b="1" lang="en-US" sz="12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AI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6428232" y="3017520"/>
            <a:ext cx="25146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GPT-4o-mini gets clean, structured data</a:t>
            </a: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no raw SQL, no guessing. Temperature set to 0.2 for consistent answers.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411480" y="9144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It Can Do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8046720" y="91440"/>
            <a:ext cx="822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04 / 06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274320" y="10058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274320" y="1371600"/>
            <a:ext cx="4114800" cy="777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457200" y="144475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🎯  Smart Intent Detection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457200" y="1737360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Knows if you're asking about revenue, churn, or support</a:t>
            </a: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and only fetches what's needed.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274320" y="2267712"/>
            <a:ext cx="4114800" cy="777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457200" y="2340864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🏆  Ranking Questions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457200" y="2633472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Handles "second highest churn industry" by fetching full sorted lists, not just the top result.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274320" y="3163824"/>
            <a:ext cx="4114800" cy="777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457200" y="3236976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🧠  Conversation Memory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457200" y="3529584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Remembers up to 10 turns of chat per session (6-hour window), so follow-ups work naturally.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274320" y="4059936"/>
            <a:ext cx="4114800" cy="777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457200" y="4133088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📋  Executive Reports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457200" y="4425696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One-click board-ready summary covering MRR, churn, plan breakdown, and support risk.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4754880" y="10058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TECH STACK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7" name="Google Shape;107;p4"/>
          <p:cNvGraphicFramePr/>
          <p:nvPr/>
        </p:nvGraphicFramePr>
        <p:xfrm>
          <a:off x="4754880" y="1325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{7CB0F782-7B9B-4435-BB8A-5C77A8438EF1}</a:tableStyleId>
              </a:tblPr>
              <a:tblGrid>
                <a:gridCol w="1463050"/>
                <a:gridCol w="2697475"/>
              </a:tblGrid>
              <a:tr h="44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Language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1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Python 3.13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1FF"/>
                    </a:solidFill>
                  </a:tcPr>
                </a:tc>
              </a:tr>
              <a:tr h="44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Framework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FastAPI + Uvicorn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4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Database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1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PostgreSQL (</a:t>
                      </a:r>
                      <a:r>
                        <a:rPr lang="en-US" sz="100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AWS </a:t>
                      </a: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RDS)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1FF"/>
                    </a:solidFill>
                  </a:tcPr>
                </a:tc>
              </a:tr>
              <a:tr h="44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 Model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GPT-4o-mini (temp 0.2)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4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Frontend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1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HTML + CSS + Vanilla JS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1FF"/>
                    </a:solidFill>
                  </a:tcPr>
                </a:tc>
              </a:tr>
              <a:tr h="44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ETL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Pandas + SQLAlchemy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4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Cloud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1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AWS EC2 + S3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1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411480" y="9144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Business Metrics It Can Answer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8046720" y="91440"/>
            <a:ext cx="822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05 / 06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274320" y="1051560"/>
            <a:ext cx="1965960" cy="1600200"/>
          </a:xfrm>
          <a:prstGeom prst="rect">
            <a:avLst/>
          </a:prstGeom>
          <a:solidFill>
            <a:srgbClr val="EBF1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274320" y="1051560"/>
            <a:ext cx="64008" cy="16002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438912" y="1143000"/>
            <a:ext cx="1737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$84K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438912" y="173736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Latest MRR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438912" y="205740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▲ +18% vs 6 months ago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2450592" y="1051560"/>
            <a:ext cx="1965960" cy="1600200"/>
          </a:xfrm>
          <a:prstGeom prst="rect">
            <a:avLst/>
          </a:prstGeom>
          <a:solidFill>
            <a:srgbClr val="FFF7ED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2450592" y="1051560"/>
            <a:ext cx="64008" cy="16002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2615184" y="1143000"/>
            <a:ext cx="1737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9.98%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2615184" y="173736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Enterprise Churn Rate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2615184" y="205740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⚠ Highest risk plan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4626864" y="1051560"/>
            <a:ext cx="1965960" cy="1600200"/>
          </a:xfrm>
          <a:prstGeom prst="rect">
            <a:avLst/>
          </a:prstGeom>
          <a:solidFill>
            <a:srgbClr val="FFF1F2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4626864" y="1051560"/>
            <a:ext cx="64008" cy="160020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4791456" y="1143000"/>
            <a:ext cx="1737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10.79%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4791456" y="173736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DevTools Churn (Industry)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4791456" y="205740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⚠ Top at-risk segment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6803136" y="1051560"/>
            <a:ext cx="1965960" cy="1600200"/>
          </a:xfrm>
          <a:prstGeom prst="rect">
            <a:avLst/>
          </a:prstGeom>
          <a:solidFill>
            <a:srgbClr val="CCFBF1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6803136" y="1051560"/>
            <a:ext cx="64008" cy="1600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6967728" y="1143000"/>
            <a:ext cx="1737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0.63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6967728" y="173736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Support-Churn Correlation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6967728" y="205740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Moderate positive signal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6" name="Google Shape;136;p5"/>
          <p:cNvGraphicFramePr/>
          <p:nvPr/>
        </p:nvGraphicFramePr>
        <p:xfrm>
          <a:off x="274320" y="2834640"/>
          <a:ext cx="5303520" cy="2103120"/>
        </p:xfrm>
        <a:graphic>
          <a:graphicData uri="http://schemas.openxmlformats.org/drawingml/2006/chart">
            <c:chart r:id="rId3"/>
          </a:graphicData>
        </a:graphic>
      </p:graphicFrame>
      <p:graphicFrame>
        <p:nvGraphicFramePr>
          <p:cNvPr id="137" name="Google Shape;137;p5"/>
          <p:cNvGraphicFramePr/>
          <p:nvPr/>
        </p:nvGraphicFramePr>
        <p:xfrm>
          <a:off x="5669280" y="2834640"/>
          <a:ext cx="3246120" cy="2103120"/>
        </p:xfrm>
        <a:graphic>
          <a:graphicData uri="http://schemas.openxmlformats.org/drawingml/2006/chart">
            <c:chart r:id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Where It Stands &amp; What's Next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8046720" y="228600"/>
            <a:ext cx="822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06 / 06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457200" y="109728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Current Limitations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457200" y="1554480"/>
            <a:ext cx="3931920" cy="457200"/>
          </a:xfrm>
          <a:prstGeom prst="rect">
            <a:avLst/>
          </a:prstGeom>
          <a:solidFill>
            <a:srgbClr val="162052"/>
          </a:solidFill>
          <a:ln cap="flat" cmpd="sng" w="12700">
            <a:solidFill>
              <a:srgbClr val="2D3E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594360" y="1554480"/>
            <a:ext cx="3703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D7A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ED7AA"/>
                </a:solidFill>
                <a:latin typeface="Calibri"/>
                <a:ea typeface="Calibri"/>
                <a:cs typeface="Calibri"/>
                <a:sym typeface="Calibri"/>
              </a:rPr>
              <a:t>⚠  No login / authentication yet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457200" y="2121408"/>
            <a:ext cx="3931920" cy="457200"/>
          </a:xfrm>
          <a:prstGeom prst="rect">
            <a:avLst/>
          </a:prstGeom>
          <a:solidFill>
            <a:srgbClr val="162052"/>
          </a:solidFill>
          <a:ln cap="flat" cmpd="sng" w="12700">
            <a:solidFill>
              <a:srgbClr val="2D3E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594360" y="2121408"/>
            <a:ext cx="3703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D7A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ED7AA"/>
                </a:solidFill>
                <a:latin typeface="Calibri"/>
                <a:ea typeface="Calibri"/>
                <a:cs typeface="Calibri"/>
                <a:sym typeface="Calibri"/>
              </a:rPr>
              <a:t>⚠  Chat history resets when server restarts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457200" y="2688336"/>
            <a:ext cx="3931920" cy="457200"/>
          </a:xfrm>
          <a:prstGeom prst="rect">
            <a:avLst/>
          </a:prstGeom>
          <a:solidFill>
            <a:srgbClr val="162052"/>
          </a:solidFill>
          <a:ln cap="flat" cmpd="sng" w="12700">
            <a:solidFill>
              <a:srgbClr val="2D3E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594360" y="2688336"/>
            <a:ext cx="3703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D7A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ED7AA"/>
                </a:solidFill>
                <a:latin typeface="Calibri"/>
                <a:ea typeface="Calibri"/>
                <a:cs typeface="Calibri"/>
                <a:sym typeface="Calibri"/>
              </a:rPr>
              <a:t>⚠  No rate limiting — not safe for public use yet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457200" y="3255264"/>
            <a:ext cx="3931920" cy="457200"/>
          </a:xfrm>
          <a:prstGeom prst="rect">
            <a:avLst/>
          </a:prstGeom>
          <a:solidFill>
            <a:srgbClr val="162052"/>
          </a:solidFill>
          <a:ln cap="flat" cmpd="sng" w="12700">
            <a:solidFill>
              <a:srgbClr val="2D3E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594360" y="3255264"/>
            <a:ext cx="3703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D7A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ED7AA"/>
                </a:solidFill>
                <a:latin typeface="Calibri"/>
                <a:ea typeface="Calibri"/>
                <a:cs typeface="Calibri"/>
                <a:sym typeface="Calibri"/>
              </a:rPr>
              <a:t>⚠  Only works with pre-defined analytics views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457200" y="3822192"/>
            <a:ext cx="3931920" cy="457200"/>
          </a:xfrm>
          <a:prstGeom prst="rect">
            <a:avLst/>
          </a:prstGeom>
          <a:solidFill>
            <a:srgbClr val="162052"/>
          </a:solidFill>
          <a:ln cap="flat" cmpd="sng" w="12700">
            <a:solidFill>
              <a:srgbClr val="2D3E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594360" y="3822192"/>
            <a:ext cx="3703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D7A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ED7AA"/>
                </a:solidFill>
                <a:latin typeface="Calibri"/>
                <a:ea typeface="Calibri"/>
                <a:cs typeface="Calibri"/>
                <a:sym typeface="Calibri"/>
              </a:rPr>
              <a:t>⚠  Requires OpenAI API key (external dependency)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4846320" y="109728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What's Being Built Next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4846320" y="1554480"/>
            <a:ext cx="3840480" cy="457200"/>
          </a:xfrm>
          <a:prstGeom prst="rect">
            <a:avLst/>
          </a:prstGeom>
          <a:solidFill>
            <a:srgbClr val="0C2A25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4983480" y="1554480"/>
            <a:ext cx="3611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alibri"/>
                <a:ea typeface="Calibri"/>
                <a:cs typeface="Calibri"/>
                <a:sym typeface="Calibri"/>
              </a:rPr>
              <a:t>✅  Add API authentication (OAuth or API keys)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4846320" y="2121408"/>
            <a:ext cx="3840480" cy="457200"/>
          </a:xfrm>
          <a:prstGeom prst="rect">
            <a:avLst/>
          </a:prstGeom>
          <a:solidFill>
            <a:srgbClr val="0C2A25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4983480" y="2121408"/>
            <a:ext cx="3611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alibri"/>
                <a:ea typeface="Calibri"/>
                <a:cs typeface="Calibri"/>
                <a:sym typeface="Calibri"/>
              </a:rPr>
              <a:t>✅  Save chat history to the database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4846320" y="2688336"/>
            <a:ext cx="3840480" cy="457200"/>
          </a:xfrm>
          <a:prstGeom prst="rect">
            <a:avLst/>
          </a:prstGeom>
          <a:solidFill>
            <a:srgbClr val="0C2A25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4983480" y="2688336"/>
            <a:ext cx="3611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alibri"/>
                <a:ea typeface="Calibri"/>
                <a:cs typeface="Calibri"/>
                <a:sym typeface="Calibri"/>
              </a:rPr>
              <a:t>✅  Per-user rate limiting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4837249" y="3255264"/>
            <a:ext cx="3840600" cy="457200"/>
          </a:xfrm>
          <a:prstGeom prst="rect">
            <a:avLst/>
          </a:prstGeom>
          <a:solidFill>
            <a:srgbClr val="0C2A25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A7F3D0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lang="en-US" sz="1050">
                <a:solidFill>
                  <a:srgbClr val="A7F3D0"/>
                </a:solidFill>
                <a:latin typeface="Calibri"/>
                <a:ea typeface="Calibri"/>
                <a:cs typeface="Calibri"/>
                <a:sym typeface="Calibri"/>
              </a:rPr>
              <a:t>✅ Charts Generation </a:t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4846320" y="3822192"/>
            <a:ext cx="3840480" cy="457200"/>
          </a:xfrm>
          <a:prstGeom prst="rect">
            <a:avLst/>
          </a:prstGeom>
          <a:solidFill>
            <a:srgbClr val="0C2A25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4983480" y="3822192"/>
            <a:ext cx="3611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Calibri"/>
                <a:ea typeface="Calibri"/>
                <a:cs typeface="Calibri"/>
                <a:sym typeface="Calibri"/>
              </a:rPr>
              <a:t>✅  Churn prediction model + revenue forecasting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2560320" y="4645152"/>
            <a:ext cx="4023360" cy="34747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2560320" y="4645152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Status: Functional MVP — Ready for Demo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2026-02-25T21:25:18Z</dcterms:created>
  <dc:creator>PptxGenJS</dc:creator>
</cp:coreProperties>
</file>